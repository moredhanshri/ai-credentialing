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640080"/>
            <a:ext cx="4389120" cy="438912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1280160"/>
            <a:ext cx="2560320" cy="256032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474720"/>
            <a:ext cx="1280160" cy="128016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</a:rPr>
              <a:t>AI IN HEALTHCARE CREDENTIALING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the Possible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AI</a:t>
            </a:r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Generative AI</a:t>
            </a:r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  ·  </a:t>
            </a:r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Agentic AI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Transforming Provider Credentialing for Managed Care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50292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73552"/>
            <a:ext cx="1691640" cy="384048"/>
          </a:xfrm>
          <a:prstGeom prst="rect">
            <a:avLst/>
          </a:prstGeom>
          <a:solidFill>
            <a:srgbClr val="2563EB">
              <a:alpha val="22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735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Predictive 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273552"/>
            <a:ext cx="1691640" cy="384048"/>
          </a:xfrm>
          <a:prstGeom prst="rect">
            <a:avLst/>
          </a:prstGeom>
          <a:solidFill>
            <a:srgbClr val="0891B2">
              <a:alpha val="22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2735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Generative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3273552"/>
            <a:ext cx="1691640" cy="384048"/>
          </a:xfrm>
          <a:prstGeom prst="rect">
            <a:avLst/>
          </a:prstGeom>
          <a:solidFill>
            <a:srgbClr val="22D3EE">
              <a:alpha val="2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2735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Agentic Autonomy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Confidential  ·  Strategic Initiative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Today's Reality: The Credentialing Bottleneck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90–120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4A5568"/>
                </a:solidFill>
              </a:rPr>
              <a:t>DAY AVERAGE CREDENTIALING 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42032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334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Manual primary source verification consumes 60%+ of a credentialing specialist's workday — repeated across every provider, every state, every cycle.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3657600" cy="1298448"/>
          </a:xfrm>
          <a:prstGeom prst="rect">
            <a:avLst/>
          </a:prstGeom>
          <a:solidFill>
            <a:srgbClr val="0891B2">
              <a:alpha val="9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520440"/>
            <a:ext cx="54864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8444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Regulatory Urgency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58768"/>
            <a:ext cx="34290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REAL Health Providers Act (signed Feb 3, 2026) mandates 90-day verification cycles and public CMS directory accuracy scores starting 2029. Manual processes cannot meet this bar at scale.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594360"/>
            <a:ext cx="0" cy="425196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594360"/>
            <a:ext cx="45262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594360"/>
            <a:ext cx="54864" cy="1353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704088"/>
            <a:ext cx="91440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704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REVENUE IMPACT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667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Provider Activation Delays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17136" y="1033272"/>
            <a:ext cx="4279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Every uncredentialed provider represents delayed patient access and foregone revenue. Extended timelines across 20+ states compound the impact significantly.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2075688"/>
            <a:ext cx="45262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2075688"/>
            <a:ext cx="54864" cy="135331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7136" y="2185416"/>
            <a:ext cx="914400" cy="237744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2185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COMPLIANCE RISK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Regulatory &amp; Liability Exposure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17136" y="2514600"/>
            <a:ext cx="4279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Missed exclusions, lapsed licenses, and ghost providers create False Claims Act exposure, CMS sanctions, and NCQA accreditation risk — all preventable with AI.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3557016"/>
            <a:ext cx="45262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3557016"/>
            <a:ext cx="54864" cy="13533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7136" y="3666744"/>
            <a:ext cx="9144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36667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OPERATIONAL COST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36301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Manual PSV at Scale Is Unsustainable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17136" y="3995928"/>
            <a:ext cx="4279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Credentialing teams spend the majority of their day on repetitive verification tasks across 50 state boards, NPDB, OIG, DEA, and dozens of other primary sources.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Each layer unlocks new possibilities — together they enable autonomous credentialing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2816352" cy="3749040"/>
          </a:xfrm>
          <a:prstGeom prst="rect">
            <a:avLst/>
          </a:prstGeom>
          <a:solidFill>
            <a:srgbClr val="0D23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2816352" cy="475488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111556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&amp; Machine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563EB"/>
                </a:solidFill>
              </a:rPr>
              <a:t>Pattern Intelligence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" y="2029968"/>
            <a:ext cx="640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0025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Fraud &amp; anomaly detection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2432304"/>
            <a:ext cx="640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04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Ghost network prediction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" y="2834640"/>
            <a:ext cx="640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072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Risk scoring &amp; stratification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" y="3236976"/>
            <a:ext cx="640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09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Credentialing delay prediction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" y="3639312"/>
            <a:ext cx="64008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6118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Claims-based provider activity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407408"/>
            <a:ext cx="2816352" cy="457200"/>
          </a:xfrm>
          <a:prstGeom prst="rect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40740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Finds patterns humans miss across massive datasets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27832" y="1115568"/>
            <a:ext cx="2816352" cy="3749040"/>
          </a:xfrm>
          <a:prstGeom prst="rect">
            <a:avLst/>
          </a:prstGeom>
          <a:solidFill>
            <a:srgbClr val="0B243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1115568"/>
            <a:ext cx="2816352" cy="475488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11155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94760" y="111556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</a:rPr>
              <a:t>Language Intelligence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2029968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20025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Document extraction (OCR + NLP + LLM)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2432304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2404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Committee packet narrative drafting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55848" y="2834640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28072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Compliance Q&amp;A assistants (RAG)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55848" y="3236976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3209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Adverse action letter generation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55848" y="3639312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36118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Provider-facing status chatbots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27832" y="4407408"/>
            <a:ext cx="2816352" cy="457200"/>
          </a:xfrm>
          <a:prstGeom prst="rect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0984" y="440740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Reads, synthesizes, and generates language at scale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81344" y="1115568"/>
            <a:ext cx="2816352" cy="3749040"/>
          </a:xfrm>
          <a:prstGeom prst="rect">
            <a:avLst/>
          </a:prstGeom>
          <a:solidFill>
            <a:srgbClr val="09223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81344" y="1115568"/>
            <a:ext cx="2816352" cy="475488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111556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03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748272" y="111556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Agentic AI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0936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</a:rPr>
              <a:t>Autonomous Intelligence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2029968"/>
            <a:ext cx="64008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20025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Autonomous PSV across 3,200+ source types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2432304"/>
            <a:ext cx="64008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24048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Multi-agent parallel orchestration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2834640"/>
            <a:ext cx="64008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28072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Self-directed gap identification &amp; resolution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09360" y="3236976"/>
            <a:ext cx="64008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320954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CAPTCHA-resistant web automation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3639312"/>
            <a:ext cx="64008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37376" y="36118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Human escalation for exceptions only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81344" y="4407408"/>
            <a:ext cx="2816352" cy="457200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4496" y="440740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Takes independent action — humans review exceptions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953512" y="28529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builds 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990088" y="306324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▶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07024" y="28529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builds on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943600" y="306324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▶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Layer 1: AI &amp; Machine Learning — Pattern Intelligence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What ML Enables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Machine learning finds patterns across large datasets that are invisible to manual review — enabling proactive risk detection, predictive prioritization, and data-driven decision support across the credentialing lifecycle.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3749040" cy="777240"/>
          </a:xfrm>
          <a:prstGeom prst="rect">
            <a:avLst/>
          </a:prstGeom>
          <a:solidFill>
            <a:srgbClr val="2563EB">
              <a:alpha val="9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47088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Key Principle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ML models improve over time — the more credentialing data ingested, the more accurate pattern detection becomes. This is a compounding advantage for early adopters.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3749040" cy="2029968"/>
          </a:xfrm>
          <a:prstGeom prst="rect">
            <a:avLst/>
          </a:prstGeom>
          <a:solidFill>
            <a:srgbClr val="F7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Maturity by Use Case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82112"/>
            <a:ext cx="6400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638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Fraud &amp; exclusion risk scoring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9232" y="3163824"/>
            <a:ext cx="987552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316382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02152"/>
            <a:ext cx="64008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838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Ghost network ML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99232" y="3483864"/>
            <a:ext cx="987552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348386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822192"/>
            <a:ext cx="6400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03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Credentialing delay prediction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99232" y="3803904"/>
            <a:ext cx="987552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9232" y="380390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Emerging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142232"/>
            <a:ext cx="6400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23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Predictive re-credentialing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99232" y="4123944"/>
            <a:ext cx="987552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41239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Early Stage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462272"/>
            <a:ext cx="6400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443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Network adequacy gap modeling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99232" y="4443984"/>
            <a:ext cx="987552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9232" y="444398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Emerging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15968" y="566928"/>
            <a:ext cx="2176272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15968" y="566928"/>
            <a:ext cx="54864" cy="1225296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6583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Provider Fraud Detection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62272" y="99669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ML screens enrollment applications for fraud risk patterns before they enter the network, enabling risk-tiered reviews.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56832" y="566928"/>
            <a:ext cx="2176272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56832" y="566928"/>
            <a:ext cx="54864" cy="1225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65836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Ghost Network Prediction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03136" y="99669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Cross-references directory listings against claims activity. Providers with zero claims and declining utilization flagged automatically.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15968" y="1901952"/>
            <a:ext cx="2176272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15968" y="1901952"/>
            <a:ext cx="54864" cy="1225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2272" y="19933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Risk Scoring &amp; Stratification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62272" y="23317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Composite risk scores combine malpractice history, quality signals, and claims anomalies to prioritize committee review.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56832" y="1901952"/>
            <a:ext cx="2176272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656832" y="1901952"/>
            <a:ext cx="54864" cy="12252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03136" y="199339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Credentialing Delay Prediction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03136" y="23317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Predicts which applications will be delayed based on completeness, specialty, and jurisdiction — enabling early intervention.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315968" y="3236976"/>
            <a:ext cx="2176272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315968" y="3236976"/>
            <a:ext cx="54864" cy="12252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62272" y="33284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Predictive Re-credentialing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462272" y="366674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Identifies high-risk providers for early re-credentialing review, enabling risk-based cycle prioritization vs. fixed 36-month cycles.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656832" y="3236976"/>
            <a:ext cx="2176272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656832" y="3236976"/>
            <a:ext cx="54864" cy="1225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03136" y="33284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Network Adequacy Modeling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03136" y="366674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Forecasts which provider departures or access gaps will create 42 CFR 438.68 compliance failures before they occur.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Layer 2: Generative AI — Language Intelligence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What GenAI Adds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Large language models bring a distinct capability: reading, understanding, synthesizing, and generating natural language. Applied to credentialing, GenAI transforms raw verification data into structured intelligence and eliminates document-heavy manual workflows.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749040" cy="749808"/>
          </a:xfrm>
          <a:prstGeom prst="rect">
            <a:avLst/>
          </a:prstGeom>
          <a:solidFill>
            <a:srgbClr val="0891B2">
              <a:alpha val="1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54864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92808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RAG-Powered Compliance Intelligence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Retrieval-augmented generation (RAG) grounds LLMs in NCQA standards, CMS regulations (42 CFR 438.214), state rules, and organizational policies — enabling real-time compliance Q&amp;A with cited sources.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Before vs. After: Committee Packet Preparation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1847088" cy="1810512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99232"/>
            <a:ext cx="54864" cy="181051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BE123C"/>
                </a:solidFill>
              </a:rPr>
              <a:t>BEFORE (Manual)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" y="3410712"/>
            <a:ext cx="109728" cy="10972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83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2–3 hours per provider 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" y="3739896"/>
            <a:ext cx="109728" cy="10972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124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Data scattered across PSV printouts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" y="4069080"/>
            <a:ext cx="109728" cy="10972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41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Inconsistent narrative format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" y="4398264"/>
            <a:ext cx="109728" cy="10972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3708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Error-prone manual synthesis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2999232"/>
            <a:ext cx="1847088" cy="1810512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2999232"/>
            <a:ext cx="54864" cy="18105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59669"/>
                </a:solidFill>
              </a:rPr>
              <a:t>AFTER (GenAI)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59736" y="341071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3383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3–5 seconds per provider 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9736" y="373989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24328" y="37124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All PSV sources automatically synthesized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59736" y="406908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4041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Standardized narrative + risk flagging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59736" y="439826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43708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Human reviews exceptions, not data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15968" y="566928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15968" y="566928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640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Intelligent Document Extraction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62272" y="9235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LLM-powered OCR/NLP extracts structured data from any document type — licenses, diplomas, DEA certs, CAQH exports — with high accuracy and no templates.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15968" y="1453896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15968" y="1453896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15270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AI Committee Packet Narratives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62272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LLMs synthesize PSV results, malpractice claim patterns, sanctions history, and quality signals into structured, committee-ready narrative summaries.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15968" y="2340864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15968" y="2340864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24140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Compliance Q&amp;A Assistant (RAG)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62272" y="2697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Grounded in NCQA standards, 42 CFR regulations, and state rules. Credentialing staff get instant, cited answers to complex compliance questions.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15968" y="3227832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15968" y="3227832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62272" y="33009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Provider Status Chatbot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462272" y="35844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Providers ask "What is the status of my credentialing?" and receive real-time answers — reducing inbound call volume to credentialing operations centers.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315968" y="4114800"/>
            <a:ext cx="4572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315968" y="4114800"/>
            <a:ext cx="54864" cy="80467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62272" y="41879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Adverse Action Letter Generation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62272" y="44714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LLMs draft compliant adverse action letters incorporating regulatory requirements, credentialing findings, and appeal rights — subject to attorney review.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Layer 3: Agentic AI — Autonomous End-to-End Credentialing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What Agentic AI Changes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Agentic AI moves beyond generating outputs to taking autonomous actions — querying primary sources, resolving gaps, retrying failures, and escalating only when human judgment is required.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0" y="1353312"/>
            <a:ext cx="2834640" cy="658368"/>
          </a:xfrm>
          <a:prstGeom prst="rect">
            <a:avLst/>
          </a:prstGeom>
          <a:solidFill>
            <a:srgbClr val="0C1B33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353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891B2"/>
                </a:solidFill>
              </a:rPr>
              <a:t>ORCHESTRATOR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664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Decomposes tasks · Assigns to specialists · Monitors progress · Escalates exceptions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2011680"/>
            <a:ext cx="0" cy="292608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768" y="2011680"/>
            <a:ext cx="3044952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2011680"/>
            <a:ext cx="-3044952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04288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04288"/>
            <a:ext cx="1508760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Intake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2624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Classifies &amp; extracts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from all document 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74420" y="2011680"/>
            <a:ext cx="0" cy="292608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8528" y="2304288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38528" y="2304288"/>
            <a:ext cx="1508760" cy="29260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PSV Agent Swarm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624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Parallel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across 70+ sources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2908" y="2011680"/>
            <a:ext cx="0" cy="292608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57016" y="2304288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57016" y="2304288"/>
            <a:ext cx="1508760" cy="292608"/>
          </a:xfrm>
          <a:prstGeom prst="rect">
            <a:avLst/>
          </a:prstGeom>
          <a:solidFill>
            <a:srgbClr val="BE123C">
              <a:alpha val="80000"/>
            </a:srgbClr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Exclusions Agent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30168" y="2624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OIG · SAM.gov · 56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state Medicaid lists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11396" y="2011680"/>
            <a:ext cx="0" cy="292608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75504" y="2304288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75504" y="2304288"/>
            <a:ext cx="1508760" cy="29260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Compliance Agent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48656" y="2624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Validates NCQA, CMS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&amp; state-specific rules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29884" y="2011680"/>
            <a:ext cx="0" cy="292608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2304288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93992" y="2304288"/>
            <a:ext cx="1508760" cy="2926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Directory Agent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67144" y="2624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Multi-source directory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accuracy reconciliation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48372" y="2011680"/>
            <a:ext cx="0" cy="292608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493008"/>
            <a:ext cx="15087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3493008"/>
            <a:ext cx="1508760" cy="25603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 Agent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3192" y="37764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Always-on surveillance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exclusions · license lapses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4343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59669"/>
                </a:solidFill>
              </a:rPr>
              <a:t>(continuous)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94560" y="3401568"/>
            <a:ext cx="4937760" cy="14813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4560" y="3401568"/>
            <a:ext cx="54864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31720" y="34564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Critical Human-in-the-Loop Decision Points  (AI must not eliminate these)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340864" y="378561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87168" y="37490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Adverse credentialing decisions (denial/termination) — clinical peer review + due process required (NCQA CR 2)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340864" y="40416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87168" y="40050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Credentialing committee deliberation and formal recommendation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340864" y="42976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87168" y="426110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Exception handling for red flags — malpractice anomalies, sanctions, criminal findings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340864" y="455371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87168" y="451713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Appeal decisions — same-or-similar specialty peer reviewer required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315200" y="3401568"/>
            <a:ext cx="1627632" cy="1481328"/>
          </a:xfrm>
          <a:prstGeom prst="rect">
            <a:avLst/>
          </a:prstGeom>
          <a:solidFill>
            <a:srgbClr val="0C1B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88352" y="34564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Key Benefits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06640" y="3785616"/>
            <a:ext cx="54864" cy="1463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16368" y="37581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Parallel processing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406640" y="3986784"/>
            <a:ext cx="54864" cy="1463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16368" y="395935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Self-healing retries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406640" y="4187952"/>
            <a:ext cx="54864" cy="1463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16368" y="41605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24/7 availability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406640" y="4389120"/>
            <a:ext cx="54864" cy="1463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16368" y="4361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Full audit trail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406640" y="4590288"/>
            <a:ext cx="54864" cy="1463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16368" y="456285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Scales linearly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Intelligent Credentialing Journey — End to 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Five stages, each powered by AI. 60–70% of clean applications can flow with zero human touch.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6459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645920" cy="36576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96926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969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932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Document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Intake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1344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Before: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" y="1344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1–3 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After: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77824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&lt; 10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84832"/>
            <a:ext cx="1481328" cy="246888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8483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GenAI LLM/OCR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93392" y="16824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29968" y="914400"/>
            <a:ext cx="16459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29968" y="914400"/>
            <a:ext cx="1645920" cy="3657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4832" y="969264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969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932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Primary Source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Verify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121408" y="1344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Before: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33472" y="1344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3–8 weeks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21408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After: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33472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2–8 hrs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21408" y="2084832"/>
            <a:ext cx="1481328" cy="24688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208483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Agentic AI Swarm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16824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85616" y="914400"/>
            <a:ext cx="16459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85616" y="914400"/>
            <a:ext cx="1645920" cy="36576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96926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969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33088" y="932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Compliance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Validation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77056" y="1344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Before: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89120" y="1344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2–5 days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77056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After: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912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Real-time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77056" y="2084832"/>
            <a:ext cx="1481328" cy="24688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77056" y="208483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AI Rules Engine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04688" y="16824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541264" y="914400"/>
            <a:ext cx="16459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41264" y="914400"/>
            <a:ext cx="1645920" cy="36576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96128" y="969264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969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888736" y="932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Committee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632704" y="1344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Before: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44768" y="1344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1–3 days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32704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After: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44768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3–5 min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32704" y="2084832"/>
            <a:ext cx="1481328" cy="246888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32704" y="208483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GenAI Narrative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60336" y="16824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▶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296912" y="914400"/>
            <a:ext cx="16459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296912" y="914400"/>
            <a:ext cx="1645920" cy="365760"/>
          </a:xfrm>
          <a:prstGeom prst="rect">
            <a:avLst/>
          </a:prstGeom>
          <a:solidFill>
            <a:srgbClr val="059669">
              <a:alpha val="9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51776" y="969264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51776" y="969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644384" y="932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Approval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Enrollment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388352" y="1344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Before: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900416" y="1344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5–10 days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88352" y="1572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After: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900416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Automated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88352" y="2084832"/>
            <a:ext cx="1481328" cy="24688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88352" y="2084832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AI Routing Rules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2944368"/>
            <a:ext cx="86410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18096"/>
                </a:solidFill>
              </a:rPr>
              <a:t>TOTAL CYCLE TIME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0" y="3081528"/>
            <a:ext cx="128016" cy="12801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6888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</a:rPr>
              <a:t>Manual: 90–120 days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72000" y="308152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AI-Assisted: ~14–30 days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492240" y="308152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75120" y="3063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Fully Autonomous: 2–5 days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74320" y="3429000"/>
            <a:ext cx="8641080" cy="1417320"/>
          </a:xfrm>
          <a:prstGeom prst="rect">
            <a:avLst/>
          </a:prstGeom>
          <a:solidFill>
            <a:srgbClr val="0C1B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The Zero-Touch Vision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457200" y="38404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For clean provider applications — no malpractice red flags, no exclusions, no gaps — an AI-autonomous pipeline can credential and enroll without any human intervention. Estimated 60–70% of applications qualify. The credentialing committee's role shifts from data review to exception adjudication.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035040" y="3621024"/>
            <a:ext cx="64008" cy="228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63056" y="3593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60–70% zero-touch rate (clean files)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6035040" y="4005072"/>
            <a:ext cx="64008" cy="228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63056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Committee reviews exceptions only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6035040" y="4389120"/>
            <a:ext cx="64008" cy="228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63056" y="4361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Full audit trail for every decision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Deep Dive: Intelligent Document Intake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An AI intake system monitors all incoming channels simultaneously — CAQH exports, portal submissions, faxed documents, emailed PDFs — and processes them through a multi-step pipeline without human involvement.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17282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Ingest &amp; Classify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1947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Any document type from any channel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048256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OCR + NLP Extraction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25511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Structured data from unstructured documents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265176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2935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Cross-Reference &amp; Dedup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3154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Match to existing provider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255264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958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" y="3538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Gap Detection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" y="37581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Identify missing required elements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" y="3858768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133088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" y="4142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Automated Outreach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" y="4361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Email/portal contact for missing items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5669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What AI Extracts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89120" y="566928"/>
            <a:ext cx="44988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89120" y="566928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6217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Medical License PDF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26280" y="877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Extracts: License #, state, expiry, status, restrictions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89120" y="1298448"/>
            <a:ext cx="44988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89120" y="1298448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13533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CAQH ProView Export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26280" y="16093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Extracts: Training history, work gaps, DEA, malpractice carrier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2029968"/>
            <a:ext cx="44988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89120" y="2029968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2084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Board Certification PDF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26280" y="23408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Extracts: Specialty, certifying board, MOC status, expiry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89120" y="2761488"/>
            <a:ext cx="44988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389120" y="2761488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28163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DEA Registration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26280" y="30723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Extracts: DEA #, schedules, expiry, state registration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389120" y="3493008"/>
            <a:ext cx="44988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389120" y="3493008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35478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Malpractice Certificate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26280" y="3803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Extracts: Carrier, policy #, coverage amounts, expiry date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389120" y="4224528"/>
            <a:ext cx="44988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389120" y="4224528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42793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Faxed Diploma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26280" y="45354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Extracts: Medical school, graduation year, degree type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Deep Dive: Autonomous PSV Agent Swarm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Traditional PSV consumes the most time in credentialing. AI-native agentic systems eliminate this bottleneck through parallel, autonomous multi-source verification — with full audit trails.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Verification source types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9601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15184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15184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All agents run simultaneously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9601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73168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Verification success rate (vendor-reported)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39712" y="96012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31152" y="1005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31152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More exclusions found vs. periodic manual checks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901952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901952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9568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State Licensing Agent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2194560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50 state medical boards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36829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License status, expiry, disciplinary history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1901952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1901952"/>
            <a:ext cx="54864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19568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NPDB Agent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10328" y="2194560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NPDB Continuous Query, adverse 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236829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Malpractice reports, adverse actions, 24hr alerts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660904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660904"/>
            <a:ext cx="54864" cy="676656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715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OIG / Exclusions Agent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2953512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OIG, SAM.gov, 56 state Medicaid lists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127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Federal &amp; state exclusions, debarment, OFAC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2660904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73168" y="2660904"/>
            <a:ext cx="54864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2715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DEA Agent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10328" y="2953512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DEA Portal, state PDMP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0328" y="31272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Registration status, schedules, prescribing anomalies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419856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419856"/>
            <a:ext cx="54864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474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Board Certification Agent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3712464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ABMS, AOA board registry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38862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Specialty certification, MOC currency, expiry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3419856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73168" y="3419856"/>
            <a:ext cx="54864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3474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Training Verification Agent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10328" y="3712464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Medical schools, GME programs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0328" y="38862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Degree, residency, fellowship confirmation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178808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4178808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2336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PECOS / Medicare Agent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2920" y="4471416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CMS PECOS, Medicare enrollment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46451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Active enrollment status, billing NPI match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73168" y="4178808"/>
            <a:ext cx="42793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73168" y="4178808"/>
            <a:ext cx="54864" cy="6766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0328" y="42336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2C"/>
                </a:solidFill>
              </a:rPr>
              <a:t>Malpractice Agent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910328" y="4471416"/>
            <a:ext cx="4023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Sources: Carrier direct API, PIAA data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10328" y="46451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Coverage amounts, claim history, risk pattern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828032"/>
            <a:ext cx="8430768" cy="2468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8371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Design principle: Direct API connections preferred — agentic browser automation for portals without APIs — AI phone agents for telephone verification. Human validation when agents get stuck.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Provider Directory AI — Ghost Network Detection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Ghost networks — providers listed as in-network who are unavailable, unreachable, or unlicensed — represent today's most acute regulatory and reputational risk.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109728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810512" y="10515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of behavioral health directory listings were inaccurate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</a:rPr>
              <a:t>(HHS OIG, October 2025)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960120"/>
            <a:ext cx="4315968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960120"/>
            <a:ext cx="54864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05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Public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Scores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61888" y="1005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CMS will publish directory accuracy scores starting plan year 2029 (REAL Health Providers Act). Plans with ghost networks face competitive and regulatory exposure in a transparent marketplace.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194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How AI Detects Ghost Providers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27939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54864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270662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27066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Claims Data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" y="309067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Cross-references directory listings with actual claims submissions. Providers with zero billing activity over 12+ months flagged as probable ghosts.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73168" y="2560320"/>
            <a:ext cx="427939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2560320"/>
            <a:ext cx="54864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2706624"/>
            <a:ext cx="3200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0096" y="270662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Multi-Channel Attestation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309067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Automated email, portal, and text outreach cycles. Non-responsive providers escalated for manual contact and potential removal.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427939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94760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" y="394106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2688" y="394106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NPPES &amp; State Board Checks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" y="432511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Validates provider license status, primary address, and NPI against directory-listed address. Mismatches trigger investigation.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73168" y="3794760"/>
            <a:ext cx="427939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73168" y="3794760"/>
            <a:ext cx="54864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941064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40096" y="394106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Web &amp; Scheduling Intelligence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432511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AI scans provider websites and scheduling platforms to detect providers no longer accepting Molina patients, not found at listed address, or no longer practicing.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Continuous Monitoring — Always-On Intelligence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NCQA's 2025 standards mandate monthly monitoring of Medicare/Medicaid exclusions and license expirations. The 'digital twin' model replaces periodic re-credentialing with always-on surveillance.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What AI Monitors — Continuously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399032"/>
            <a:ext cx="201168" cy="20116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380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OIG Exclusion Database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3807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23C"/>
                </a:solidFill>
              </a:rPr>
              <a:t>Daily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856232"/>
            <a:ext cx="201168" cy="20116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837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SAM.gov Federal Debarment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8379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E123C"/>
                </a:solidFill>
              </a:rPr>
              <a:t>Daily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31343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295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NPDB Continuous Query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2951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Real-time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7706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752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56 State Medical Boards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7523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Monthly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227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209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State Medicaid Exclusion Lists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2095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Monthly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3685032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666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DEA Registration Status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36667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Weekly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414223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1239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Board Certification MOC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4640" y="41239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Quarterly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526280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459943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581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Malpractice Coverage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45811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Continuous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389120" y="9601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Alert Types &amp; Workflow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389120" y="1325880"/>
            <a:ext cx="44988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07408" y="1435608"/>
            <a:ext cx="804672" cy="27432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14356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85232" y="138074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</a:rPr>
              <a:t>SLA: &lt; 24 hours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07408" y="161848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OIG exclusion added, DEA revoked, license suspended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89120" y="1892808"/>
            <a:ext cx="44988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07408" y="2002536"/>
            <a:ext cx="80467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07408" y="20025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85232" y="194767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SLA: 3 business days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07408" y="2185416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License expiring 90 days, new NPDB report, board sanction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89120" y="2459736"/>
            <a:ext cx="44988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407408" y="2569464"/>
            <a:ext cx="80467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07408" y="25694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85232" y="25146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SLA: 10 business days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407408" y="2752344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Malpractice claim filed, coverage gap detected, board action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89120" y="3026664"/>
            <a:ext cx="449884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407408" y="3136392"/>
            <a:ext cx="80467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07408" y="313639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INFO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85232" y="308152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SLA: Next review cycle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407408" y="3319272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License renewal upcoming, MOC window opening, re-cred due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89120" y="3657600"/>
            <a:ext cx="4498848" cy="1188720"/>
          </a:xfrm>
          <a:prstGeom prst="rect">
            <a:avLst/>
          </a:prstGeom>
          <a:solidFill>
            <a:srgbClr val="0C1B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26280" y="37307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The 'Digital Twin' Model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526280" y="4023360"/>
            <a:ext cx="4224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Rather than fixed 36-month re-credentialing cycles, AI maintains a real-time digital twin of each provider's credential status. Clean providers with no changes flow through re-credentialing with near-zero human touch. Human review is triggered only by material changes.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65760" y="4864608"/>
            <a:ext cx="3858768" cy="182880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487375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NCQA 2025: Monthly monitoring of exclusions + license status now mandatory for Medicare/Medicaid plans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Governance &amp; Human-in-the-Loop — Non-Negotiable Guardrails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AI augments credentialing professionals; it does not replace the judgment and accountability that regulations require. Governance is foundational, not optional.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85876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1444752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088136"/>
            <a:ext cx="292608" cy="292608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088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11064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</a:rPr>
              <a:t>Accuracy &amp; Patient Safety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2064" y="1490472"/>
            <a:ext cx="82296" cy="8229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45389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Credentialing errors enabling unqualified providers create patient safety risk and False Claims Act liability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" y="1764792"/>
            <a:ext cx="82296" cy="8229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72821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AI false negative rates must be tracked with the same rigor as false positive rates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" y="2039112"/>
            <a:ext cx="82296" cy="82296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0025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Human clinical review required for all adverse credentialing decisions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960120"/>
            <a:ext cx="385876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07408" y="960120"/>
            <a:ext cx="54864" cy="1444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5424" y="108813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1088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11064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</a:rPr>
              <a:t>Bias &amp; Network Equity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53712" y="149047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145389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ML models trained on historical data can perpetuate biases against providers from certain programs, geographies, or backgrounds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53712" y="176479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172821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Medicaid-specific risk: models trained on commercial data may misinterpret Medicaid practice patterns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53712" y="20391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20025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Regular bias audits required across protected provider characteristics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514600"/>
            <a:ext cx="385876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514600"/>
            <a:ext cx="54864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" y="264261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" y="266090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</a:rPr>
              <a:t>Regulatory Compliance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12064" y="304495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00837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NCQA CR 2: A credentialing committee must make adverse decisions — full automation without oversight may violate accreditation standards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12064" y="331927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28269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42 CFR 438.214: Documented processes with auditable decision trails are required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" y="359359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355701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NCQA AI Standards in Health Plan Accreditation (2027) — governance framework building must begin now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07408" y="2514600"/>
            <a:ext cx="385876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07408" y="2514600"/>
            <a:ext cx="54864" cy="1444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35424" y="2642616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35424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19472" y="266090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</a:rPr>
              <a:t>Data Security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553712" y="304495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0016" y="300837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Credentialing files contain highly sensitive PII: SSNs, DEA numbers, malpractice records, disciplinary history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53712" y="33192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328269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The Change Healthcare cyberattack (2024) demonstrated systemic healthcare data vulnerability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53712" y="359359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355701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AI vendor security assessments and data processing agreements are essential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4069080"/>
            <a:ext cx="54864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76" y="4197096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77824" y="4215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</a:rPr>
              <a:t>Model Governance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12064" y="459943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" y="4562856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AI models must be evaluated pre-deployment and monitored ongoing for accuracy drift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2064" y="487375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" y="4837176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All AI-assisted decisions require explainable audit trails — "black box" outcomes are not acceptable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2064" y="5148072"/>
            <a:ext cx="82296" cy="822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5111496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Establish model review cadence aligned to NCQA AI Stakeholder Working Group guidance (2025+)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Strategic Roadmap — Building Toward Autonomous Credentialing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A phased approach builds confidence, demonstrates value, and avoids the "big bang" integration risk. Each phase delivers standalone benefits while setting up the next.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816352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0120"/>
            <a:ext cx="54864" cy="3913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60120"/>
            <a:ext cx="2816352" cy="457200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02412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10241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188720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Months 1–6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499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Data &amp; Integration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177393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</a:rPr>
              <a:t>Before AI can work, the data must flow cleanly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029968"/>
            <a:ext cx="2606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121408"/>
            <a:ext cx="64008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10312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Unified provider data foundation (CAQH + NPPES + claims + credentialing)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2551176"/>
            <a:ext cx="64008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328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API connectivity to primary verification sources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2980944"/>
            <a:ext cx="64008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626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Continuous exclusions monitoring (OIG/SAM/NPDB) — highest compliance ROI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3410712"/>
            <a:ext cx="64008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924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Baseline directory accuracy measurement across all markets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3840480"/>
            <a:ext cx="64008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8221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Governance framework and AI oversight committee established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960120"/>
            <a:ext cx="2816352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960120"/>
            <a:ext cx="54864" cy="39136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960120"/>
            <a:ext cx="2816352" cy="45720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102412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749040" y="10241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1188720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Months 6–15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1499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AI &amp; GenAI Deployment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177393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</a:rPr>
              <a:t>Demonstrate AI value at each step of the lifecycle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2029968"/>
            <a:ext cx="2606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2121408"/>
            <a:ext cx="6400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210312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AI document intake and field extraction across all channels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2551176"/>
            <a:ext cx="6400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1296" y="25328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LLM committee packet generation (synthesize PSV + malpractice + risk)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3280" y="2980944"/>
            <a:ext cx="6400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29626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Ghost network ML detection using claims data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3280" y="3410712"/>
            <a:ext cx="6400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11296" y="33924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Provider status chatbot for status inquiry call deflection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83280" y="3840480"/>
            <a:ext cx="6400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11296" y="38221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Compliance Q&amp;A assistant (RAG-based, NCQA + CMS grounded)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36208" y="960120"/>
            <a:ext cx="2816352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36208" y="960120"/>
            <a:ext cx="54864" cy="39136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36208" y="960120"/>
            <a:ext cx="2816352" cy="457200"/>
          </a:xfrm>
          <a:prstGeom prst="rect">
            <a:avLst/>
          </a:prstGeom>
          <a:solidFill>
            <a:srgbClr val="22D3EE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1024128"/>
            <a:ext cx="292608" cy="29260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693408" y="1024128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AUTONOMY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93408" y="1188720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Months 15–24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27648" y="14996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Agentic AI at Scale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327648" y="177393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</a:rPr>
              <a:t>Deploy multi-agent orchestration for full automation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327648" y="2029968"/>
            <a:ext cx="2606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7648" y="2121408"/>
            <a:ext cx="64008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55664" y="210312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Agentic PSV agent swarm — parallel verification across 70+ sources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27648" y="2551176"/>
            <a:ext cx="64008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5664" y="25328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Zero-touch routing for clean applications — committee reviews exceptions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327648" y="2980944"/>
            <a:ext cx="64008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296265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Predictive re-credentialing risk stratification across 36-month cycle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327648" y="3410712"/>
            <a:ext cx="64008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55664" y="33924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Multi-state agentic deployment with state-specific rule adaptation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27648" y="3840480"/>
            <a:ext cx="64008" cy="21945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55664" y="38221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Public directory accuracy scoring readiness (CMS 2029 mandate)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47472" y="4910328"/>
            <a:ext cx="8430768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7472" y="4910328"/>
            <a:ext cx="2816352" cy="109728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163824" y="4910328"/>
            <a:ext cx="2816352" cy="109728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4910328"/>
            <a:ext cx="2798064" cy="10972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5029200"/>
            <a:ext cx="2816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Months 1–6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163824" y="5029200"/>
            <a:ext cx="2816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Months 6–15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980176" y="5029200"/>
            <a:ext cx="2798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Months 15–24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74320"/>
            <a:ext cx="3657600" cy="36576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291840"/>
            <a:ext cx="2011680" cy="2011680"/>
          </a:xfrm>
          <a:prstGeom prst="ellipse">
            <a:avLst/>
          </a:prstGeom>
          <a:solidFill>
            <a:srgbClr val="22D3EE">
              <a:alpha val="13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</a:rPr>
              <a:t>THE WINDOW FOR COMPETITIVE ADVANTAGE IS 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Insights to Guide Strategy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27632"/>
            <a:ext cx="365760" cy="365760"/>
          </a:xfrm>
          <a:prstGeom prst="ellipse">
            <a:avLst/>
          </a:prstGeom>
          <a:solidFill>
            <a:srgbClr val="2563EB">
              <a:alpha val="80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16276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Start with the Data Layer, Not the AI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193852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The biggest barrier to AI credentialing is not algorithm sophistication — it is data integration. Build a unified provider data foundation connecting CAQH, NPPES, state boards, claims, and credentialing systems first.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0891B2">
              <a:alpha val="8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2651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Ghost Network AI Is the Most Strategically Urgent Investment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296265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With public CMS accuracy scores beginning in 2029, plans that build ML-powered directory capabilities now will have years of model training before scores become public. Those that wait will face regulatory exposure in a transparent marketplace.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365760" cy="365760"/>
          </a:xfrm>
          <a:prstGeom prst="ellipse">
            <a:avLst/>
          </a:prstGeom>
          <a:solidFill>
            <a:srgbClr val="22D3EE">
              <a:alpha val="8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" y="367588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Shared Credentialing Model Will Reshape Economics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98678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Emerging shared credentialing networks aim to eliminate redundant cross-plan verification. Early participation creates network effects and positions plans to benefit from industry infrastructure before it is captured.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71020"/>
          </a:solidFill>
          <a:ln w="12700">
            <a:solidFill>
              <a:srgbClr val="071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640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Credentialing is not merely an administrative process — it is the gateway through which every provider enters your network, directly determining member access, compliance, and network quality.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the Possible: AI in Provider Credentialing</dc:title>
  <dc:subject>PptxGenJS Presentation</dc:subject>
  <dc:creator>Healthcare AI Strategy</dc:creator>
  <cp:lastModifiedBy>Healthcare AI Strategy</cp:lastModifiedBy>
  <cp:revision>1</cp:revision>
  <dcterms:created xsi:type="dcterms:W3CDTF">2026-03-09T17:49:15Z</dcterms:created>
  <dcterms:modified xsi:type="dcterms:W3CDTF">2026-03-09T17:49:15Z</dcterms:modified>
</cp:coreProperties>
</file>